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aa828be-21cb-1e36-abd0-9b828139d22b}">
          <p14:sldIdLst>
            <p14:sldId id="256"/>
            <p14:sldId id="257"/>
            <p14:sldId id="258"/>
          </p14:sldIdLst>
        </p14:section>
        <p14:section name="Detection" id="{00c317c1-d05e-adb0-4ab4-fd3ceda8cc2b}">
          <p14:sldIdLst>
            <p14:sldId id="259"/>
            <p14:sldId id="260"/>
            <p14:sldId id="261"/>
            <p14:sldId id="262"/>
            <p14:sldId id="263"/>
          </p14:sldIdLst>
        </p14:section>
        <p14:section name="Recovery" id="{18b534e4-a9e2-57e4-d212-255dbfdbf3be}">
          <p14:sldIdLst>
            <p14:sldId id="264"/>
            <p14:sldId id="265"/>
          </p14:sldIdLst>
        </p14:section>
        <p14:section name="Wrap-up" id="{07446195-3312-7cbb-4099-e24eb525b685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our project detects deadlocks in a system with multiple resource types and recovers by terminating processes. The ring shows the core idea: each process waits for the next,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Coffman conditions. Our simulator looks for the last one, the circular wait, across multiple resource instances.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stages. Everything that follows maps onto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arrays carry the whole algorithm. work is a scratch copy of avail so detection doesn't change real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subtle point: finish starts at 1 for processes with zero allocation. They hold nothing, so no one waits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do-while loop. A pass that finds nothing means the remaining unfinished processes can never be satisfied.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textbook system with 5 processes and 3 resource types. The only change from the safe version is P2 requesting one more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safe run prints a valid completion order. Right: the same system with one changed request is flagged as deadlocked.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Invalid or already-finished victims are rejected and the user is asked again. Termination of one process often unblocks several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termination, P1, was enough. Each step shows the work vector growing until it equals the system totals 7 2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pass is O(n·m) and at most n passes are needed. Edge cases are handled so the demo can't crash on bad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Python version extends the C idea with three recovery strategies, a wait-for graph, and a live multi-threaded demo. Run: python3 deadlock_simulator.py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we detect, recover and demonstrate. Future work: automatic victim policy, avoidance, preemption, and a visual GUI. Thank you, questions?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OPERATING SYSTEMS  •  HACKATHON PROJECT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Deadlock Detection &amp; Recovery Simulator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246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Finding processes stuck in a circular wait, and freeing the system again — implemented in 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95160" y="114300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92440" y="224028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95160" y="333756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97880" y="224028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08392" y="1856232"/>
            <a:ext cx="310896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7708392" y="2953512"/>
            <a:ext cx="310896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 flipV="1">
            <a:off x="6611112" y="2953512"/>
            <a:ext cx="310896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6611112" y="1856232"/>
            <a:ext cx="310896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49224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circular wait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a Deadlock?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set of processes where each one waits for a resource held by another, so none can ever continue.</a:t>
            </a:r>
            <a:endParaRPr lang="en-US" sz="1800" dirty="0"/>
          </a:p>
        </p:txBody>
      </p:sp>
      <p:sp>
        <p:nvSpPr>
          <p:cNvPr id="4" name="Coffman card 1"/>
          <p:cNvSpPr/>
          <p:nvPr/>
        </p:nvSpPr>
        <p:spPr>
          <a:xfrm>
            <a:off x="548640" y="2011680"/>
            <a:ext cx="1828800" cy="22402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94560"/>
            <a:ext cx="594360" cy="59436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6" name="Image 0" descr="Fa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3431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Mutual exclusion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29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resource serves one process at a time</a:t>
            </a:r>
            <a:endParaRPr lang="en-US" sz="1400" dirty="0"/>
          </a:p>
        </p:txBody>
      </p:sp>
      <p:sp>
        <p:nvSpPr>
          <p:cNvPr id="9" name="Coffman card 2"/>
          <p:cNvSpPr/>
          <p:nvPr/>
        </p:nvSpPr>
        <p:spPr>
          <a:xfrm>
            <a:off x="2621310" y="2011680"/>
            <a:ext cx="1828800" cy="22402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04190" y="2194560"/>
            <a:ext cx="594360" cy="59436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11" name="Image 1" descr="FaHandHol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80" y="23431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0419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Hold and wait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804190" y="3429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process holds some, waits for more</a:t>
            </a:r>
            <a:endParaRPr lang="en-US" sz="1400" dirty="0"/>
          </a:p>
        </p:txBody>
      </p:sp>
      <p:sp>
        <p:nvSpPr>
          <p:cNvPr id="14" name="Coffman card 3"/>
          <p:cNvSpPr/>
          <p:nvPr/>
        </p:nvSpPr>
        <p:spPr>
          <a:xfrm>
            <a:off x="4693981" y="2011680"/>
            <a:ext cx="1828800" cy="22402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76861" y="2194560"/>
            <a:ext cx="594360" cy="59436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16" name="Image 2" descr="FaB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451" y="23431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76861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preemption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76861" y="3429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Resources can't be forcibly taken back</a:t>
            </a:r>
            <a:endParaRPr lang="en-US" sz="1400" dirty="0"/>
          </a:p>
        </p:txBody>
      </p:sp>
      <p:sp>
        <p:nvSpPr>
          <p:cNvPr id="19" name="Coffman card 4"/>
          <p:cNvSpPr/>
          <p:nvPr/>
        </p:nvSpPr>
        <p:spPr>
          <a:xfrm>
            <a:off x="6766651" y="2011680"/>
            <a:ext cx="1828800" cy="22402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949531" y="2194560"/>
            <a:ext cx="594360" cy="5943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21" name="Image 3" descr="FaSync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121" y="234315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9531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Circular wait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949531" y="3429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P1 waits on P2, P2 waits on P1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4434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All four conditions must hold together. Break one and deadlock can't happen.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Approach in Three Stages</a:t>
            </a:r>
            <a:endParaRPr lang="en-US" sz="3200" dirty="0"/>
          </a:p>
        </p:txBody>
      </p:sp>
      <p:sp>
        <p:nvSpPr>
          <p:cNvPr id="3" name="Stage 1"/>
          <p:cNvSpPr/>
          <p:nvPr/>
        </p:nvSpPr>
        <p:spPr>
          <a:xfrm>
            <a:off x="548640" y="1417320"/>
            <a:ext cx="2377440" cy="246888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Input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Allocation matrix, Request matrix and Available vector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2468880"/>
            <a:ext cx="274320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age 2"/>
          <p:cNvSpPr/>
          <p:nvPr/>
        </p:nvSpPr>
        <p:spPr>
          <a:xfrm>
            <a:off x="3383280" y="1417320"/>
            <a:ext cx="2377440" cy="246888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164592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Detect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Find every process that can never finish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2468880"/>
            <a:ext cx="274320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age 3"/>
          <p:cNvSpPr/>
          <p:nvPr/>
        </p:nvSpPr>
        <p:spPr>
          <a:xfrm>
            <a:off x="6217920" y="1417320"/>
            <a:ext cx="2377440" cy="246888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645920"/>
            <a:ext cx="548640" cy="5486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Recover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Terminate victims, reclaim resources, re-check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Plain C, only stdio.h  •  up to 20 processes × 20 resource types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Structures Used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3A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alloc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n × 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Instances each process currently holds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3A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n × 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Instances each process is still waiting for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3A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avail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Free instances of every resource type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3A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Simulated free pool while detection runs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3A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finish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1 = process can complete (or holds nothing)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23A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sequence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</a:rPr>
                        <a:t>Order in which processes complete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 = number of processes, m = number of resource types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Input and Initialisation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276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Reject n or m outside 1 to 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 the matrices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7249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Allocation, Request, then Available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Prepare detection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8221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work starts as a copy of avail. A process holding nothing is marked finished, since it can't be part of a deadlock.</a:t>
            </a:r>
            <a:endParaRPr lang="en-US" sz="1400" dirty="0"/>
          </a:p>
        </p:txBody>
      </p:sp>
      <p:sp>
        <p:nvSpPr>
          <p:cNvPr id="12" name="Code panel"/>
          <p:cNvSpPr/>
          <p:nvPr/>
        </p:nvSpPr>
        <p:spPr>
          <a:xfrm>
            <a:off x="4572000" y="1280160"/>
            <a:ext cx="4023360" cy="265176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4630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(j = 0; j &lt; m; j++)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work[j] = avail[j];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n; i++)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finish[i] =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(j = 0; j &lt; m; j++)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(alloc[i][j] !=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finish[i]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Detection Algorithm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Step 1"/>
          <p:cNvSpPr/>
          <p:nvPr/>
        </p:nvSpPr>
        <p:spPr>
          <a:xfrm>
            <a:off x="1234440" y="1261872"/>
            <a:ext cx="41148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417320" y="126187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a process i that is unfinished and request[i] ≤ 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Step 2"/>
          <p:cNvSpPr/>
          <p:nvPr/>
        </p:nvSpPr>
        <p:spPr>
          <a:xfrm>
            <a:off x="1234440" y="2084832"/>
            <a:ext cx="41148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417320" y="208483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Assume it completes: work += alloc[i]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Step 3"/>
          <p:cNvSpPr/>
          <p:nvPr/>
        </p:nvSpPr>
        <p:spPr>
          <a:xfrm>
            <a:off x="1234440" y="2907792"/>
            <a:ext cx="41148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417320" y="290779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 finish[i] = 1 and add i to the sequence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3" name="Step 4"/>
          <p:cNvSpPr/>
          <p:nvPr/>
        </p:nvSpPr>
        <p:spPr>
          <a:xfrm>
            <a:off x="1234440" y="3730752"/>
            <a:ext cx="41148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417320" y="373075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Repeat until a full pass makes no progress</a:t>
            </a:r>
            <a:endParaRPr lang="en-US" sz="1400" dirty="0"/>
          </a:p>
        </p:txBody>
      </p:sp>
      <p:sp>
        <p:nvSpPr>
          <p:cNvPr id="15" name="Deadlock verdict"/>
          <p:cNvSpPr/>
          <p:nvPr/>
        </p:nvSpPr>
        <p:spPr>
          <a:xfrm>
            <a:off x="5760720" y="1280160"/>
            <a:ext cx="283464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finish[i] = 0 left over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Those processes are DEADLOCKED</a:t>
            </a:r>
            <a:endParaRPr lang="en-US" sz="1800" dirty="0"/>
          </a:p>
        </p:txBody>
      </p:sp>
      <p:sp>
        <p:nvSpPr>
          <p:cNvPr id="18" name="Safe verdict"/>
          <p:cNvSpPr/>
          <p:nvPr/>
        </p:nvSpPr>
        <p:spPr>
          <a:xfrm>
            <a:off x="5760720" y="2971800"/>
            <a:ext cx="2834640" cy="1417320"/>
          </a:xfrm>
          <a:prstGeom prst="roundRect">
            <a:avLst>
              <a:gd name="adj" fmla="val 774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94360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every finish[i] = 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deadlock. Print the completion sequence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937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Process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Allocation  A B 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Request  A B 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61F"/>
                          </a:solidFill>
                        </a:rPr>
                        <a:t>P0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61F"/>
                          </a:solidFill>
                        </a:rPr>
                        <a:t>P1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2 0 0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2 0 2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61F"/>
                          </a:solidFill>
                        </a:rPr>
                        <a:t>P2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3 0 3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23A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61F"/>
                          </a:solidFill>
                        </a:rPr>
                        <a:t>P3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2 1 1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61F"/>
                          </a:solidFill>
                        </a:rPr>
                        <a:t>P4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6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vailable stat"/>
          <p:cNvSpPr/>
          <p:nvPr/>
        </p:nvSpPr>
        <p:spPr>
          <a:xfrm>
            <a:off x="5852160" y="1280160"/>
            <a:ext cx="27432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3504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Available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0 0 0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of totals A=7, B=2, C=6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154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P2 asks for one more C. Nothing is free, so a circular wait forms.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Detection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274320" cy="27432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Original requests: SAFE</a:t>
            </a:r>
            <a:endParaRPr lang="en-US" sz="1600" dirty="0"/>
          </a:p>
        </p:txBody>
      </p:sp>
      <p:sp>
        <p:nvSpPr>
          <p:cNvPr id="5" name="Code panel"/>
          <p:cNvSpPr/>
          <p:nvPr/>
        </p:nvSpPr>
        <p:spPr>
          <a:xfrm>
            <a:off x="548640" y="173736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deadlock detected!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 sequence: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 P2 P3 P4 P1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Work grows 0 0 0 → 7 2 6 as every process finishes in turn.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274320" cy="2743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P2 requests 1 more C: DEADLOCK</a:t>
            </a:r>
            <a:endParaRPr lang="en-US" sz="1600" dirty="0"/>
          </a:p>
        </p:txBody>
      </p:sp>
      <p:sp>
        <p:nvSpPr>
          <p:cNvPr id="10" name="Code panel"/>
          <p:cNvSpPr/>
          <p:nvPr/>
        </p:nvSpPr>
        <p:spPr>
          <a:xfrm>
            <a:off x="4754880" y="173736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983480" y="19202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is deadlocked.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is deadlocked.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is deadlocked.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 is deadlocked.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383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Only P0 finishes. The 0 1 0 it frees is useless to the rest.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Recovery by Termination</a:t>
            </a:r>
            <a:endParaRPr lang="en-US" sz="3200" dirty="0"/>
          </a:p>
        </p:txBody>
      </p:sp>
      <p:sp>
        <p:nvSpPr>
          <p:cNvPr id="3" name="Recovery step 1"/>
          <p:cNvSpPr/>
          <p:nvPr/>
        </p:nvSpPr>
        <p:spPr>
          <a:xfrm>
            <a:off x="548640" y="1280160"/>
            <a:ext cx="475488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the deadlocked processes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88920" y="1755648"/>
            <a:ext cx="274320" cy="18288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Recovery step 2"/>
          <p:cNvSpPr/>
          <p:nvPr/>
        </p:nvSpPr>
        <p:spPr>
          <a:xfrm>
            <a:off x="548640" y="1965960"/>
            <a:ext cx="475488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picks a victim (validated)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2441448"/>
            <a:ext cx="274320" cy="18288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Recovery step 3"/>
          <p:cNvSpPr/>
          <p:nvPr/>
        </p:nvSpPr>
        <p:spPr>
          <a:xfrm>
            <a:off x="548640" y="2651760"/>
            <a:ext cx="475488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Reclaim: work += alloc[victim]; finish = 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3127248"/>
            <a:ext cx="274320" cy="18288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Recovery step 4"/>
          <p:cNvSpPr/>
          <p:nvPr/>
        </p:nvSpPr>
        <p:spPr>
          <a:xfrm>
            <a:off x="548640" y="3337560"/>
            <a:ext cx="475488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3337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Re-run detection, printing each “Pn can now complete”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88920" y="3813048"/>
            <a:ext cx="274320" cy="18288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Recovery step 5"/>
          <p:cNvSpPr/>
          <p:nvPr/>
        </p:nvSpPr>
        <p:spPr>
          <a:xfrm>
            <a:off x="548640" y="4023360"/>
            <a:ext cx="475488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4023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Repeat until no process is blocked</a:t>
            </a:r>
            <a:endParaRPr lang="en-US" sz="1400" dirty="0"/>
          </a:p>
        </p:txBody>
      </p:sp>
      <p:sp>
        <p:nvSpPr>
          <p:cNvPr id="17" name="Why this works"/>
          <p:cNvSpPr/>
          <p:nvPr/>
        </p:nvSpPr>
        <p:spPr>
          <a:xfrm>
            <a:off x="5669280" y="1280160"/>
            <a:ext cx="2926080" cy="320040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89788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works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192024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Freed resources return to the pool instantly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Policy is flexible: you choose the victim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Stops as soon as the system is clear, so few kills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Recovery Walkthrough</a:t>
            </a:r>
            <a:endParaRPr lang="en-US" sz="3200" dirty="0"/>
          </a:p>
        </p:txBody>
      </p:sp>
      <p:sp>
        <p:nvSpPr>
          <p:cNvPr id="3" name="Walk step 1"/>
          <p:cNvSpPr/>
          <p:nvPr/>
        </p:nvSpPr>
        <p:spPr>
          <a:xfrm>
            <a:off x="548640" y="1280160"/>
            <a:ext cx="1828800" cy="242316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Detect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P0 finishes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work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0 1 0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37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P1 to P4 stuck</a:t>
            </a:r>
            <a:endParaRPr lang="en-US" sz="1200" dirty="0"/>
          </a:p>
        </p:txBody>
      </p:sp>
      <p:sp>
        <p:nvSpPr>
          <p:cNvPr id="10" name="Walk step 2"/>
          <p:cNvSpPr/>
          <p:nvPr/>
        </p:nvSpPr>
        <p:spPr>
          <a:xfrm>
            <a:off x="2621310" y="1280160"/>
            <a:ext cx="1828800" cy="242316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04190" y="1463040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0419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Terminate P1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0419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+ 2 0 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04190" y="2651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work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0419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2 1 0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804190" y="3337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P3 can now run</a:t>
            </a:r>
            <a:endParaRPr lang="en-US" sz="1200" dirty="0"/>
          </a:p>
        </p:txBody>
      </p:sp>
      <p:sp>
        <p:nvSpPr>
          <p:cNvPr id="17" name="Walk step 3"/>
          <p:cNvSpPr/>
          <p:nvPr/>
        </p:nvSpPr>
        <p:spPr>
          <a:xfrm>
            <a:off x="4693981" y="1280160"/>
            <a:ext cx="1828800" cy="242316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76861" y="1463040"/>
            <a:ext cx="411480" cy="41148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76861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P3 completes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76861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+ 2 1 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76861" y="2651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work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76861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4 2 1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876861" y="3337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P2 can now run</a:t>
            </a:r>
            <a:endParaRPr lang="en-US" sz="1200" dirty="0"/>
          </a:p>
        </p:txBody>
      </p:sp>
      <p:sp>
        <p:nvSpPr>
          <p:cNvPr id="24" name="Walk step 4"/>
          <p:cNvSpPr/>
          <p:nvPr/>
        </p:nvSpPr>
        <p:spPr>
          <a:xfrm>
            <a:off x="6766651" y="1280160"/>
            <a:ext cx="1828800" cy="242316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531" y="1463040"/>
            <a:ext cx="411480" cy="41148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531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P2, then P4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49531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+ 3 0 3, + 0 0 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49531" y="2651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work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49531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7 2 6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6949531" y="3337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All finished</a:t>
            </a:r>
            <a:endParaRPr lang="en-US" sz="1200" dirty="0"/>
          </a:p>
        </p:txBody>
      </p:sp>
      <p:sp>
        <p:nvSpPr>
          <p:cNvPr id="31" name="Result banner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77240" y="3931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Recovered. Completion sequence: P0  P1  P3  P2  P4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Complexity and Robustness</a:t>
            </a:r>
            <a:endParaRPr lang="en-US" sz="3200" dirty="0"/>
          </a:p>
        </p:txBody>
      </p:sp>
      <p:sp>
        <p:nvSpPr>
          <p:cNvPr id="3" name="Stat complexity"/>
          <p:cNvSpPr/>
          <p:nvPr/>
        </p:nvSpPr>
        <p:spPr>
          <a:xfrm>
            <a:off x="548640" y="1280160"/>
            <a:ext cx="32918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O(m · n²)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worst-case detection time</a:t>
            </a:r>
            <a:endParaRPr lang="en-US" sz="1400" dirty="0"/>
          </a:p>
        </p:txBody>
      </p:sp>
      <p:sp>
        <p:nvSpPr>
          <p:cNvPr id="6" name="Stat size"/>
          <p:cNvSpPr/>
          <p:nvPr/>
        </p:nvSpPr>
        <p:spPr>
          <a:xfrm>
            <a:off x="548640" y="3017520"/>
            <a:ext cx="32918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× 20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77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max processes × resource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37160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10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7408" y="148132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Input validated before any processing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97680" y="214884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13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25856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93776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Processes holding nothing are never flagged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297680" y="292608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16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0358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3776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Bad victim numbers are rejected and re-prompted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297680" y="370332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19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381304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93776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Safe systems exit early with a valid sequence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Beyond C: Python Simulator</a:t>
            </a:r>
            <a:endParaRPr lang="en-US" sz="3200" dirty="0"/>
          </a:p>
        </p:txBody>
      </p:sp>
      <p:sp>
        <p:nvSpPr>
          <p:cNvPr id="3" name="Feature Wait-for graph"/>
          <p:cNvSpPr/>
          <p:nvPr/>
        </p:nvSpPr>
        <p:spPr>
          <a:xfrm>
            <a:off x="548640" y="128016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5" name="Image 0" descr="FaProject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Wait-for graph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Shows each circular wait, e.g. P1 → P2 → P1</a:t>
            </a:r>
            <a:endParaRPr lang="en-US" sz="1400" dirty="0"/>
          </a:p>
        </p:txBody>
      </p:sp>
      <p:sp>
        <p:nvSpPr>
          <p:cNvPr id="8" name="Feature Terminate all"/>
          <p:cNvSpPr/>
          <p:nvPr/>
        </p:nvSpPr>
        <p:spPr>
          <a:xfrm>
            <a:off x="3291840" y="128016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10" name="Image 1" descr="FaTrash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5773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Terminate all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Kill every deadlocked process at once</a:t>
            </a:r>
            <a:endParaRPr lang="en-US" sz="1400" dirty="0"/>
          </a:p>
        </p:txBody>
      </p:sp>
      <p:sp>
        <p:nvSpPr>
          <p:cNvPr id="13" name="Feature One by one"/>
          <p:cNvSpPr/>
          <p:nvPr/>
        </p:nvSpPr>
        <p:spPr>
          <a:xfrm>
            <a:off x="6035040" y="128016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15" name="Image 2" descr="FaSortAmountDow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57734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by one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Cheapest victim first, re-detect each time</a:t>
            </a:r>
            <a:endParaRPr lang="en-US" sz="1400" dirty="0"/>
          </a:p>
        </p:txBody>
      </p:sp>
      <p:sp>
        <p:nvSpPr>
          <p:cNvPr id="18" name="Feature Preemption"/>
          <p:cNvSpPr/>
          <p:nvPr/>
        </p:nvSpPr>
        <p:spPr>
          <a:xfrm>
            <a:off x="548640" y="288036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20" name="Image 3" descr="FaUn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177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Preemption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Roll victims back; guard against starvation</a:t>
            </a:r>
            <a:endParaRPr lang="en-US" sz="1400" dirty="0"/>
          </a:p>
        </p:txBody>
      </p:sp>
      <p:sp>
        <p:nvSpPr>
          <p:cNvPr id="23" name="Feature Live threads"/>
          <p:cNvSpPr/>
          <p:nvPr/>
        </p:nvSpPr>
        <p:spPr>
          <a:xfrm>
            <a:off x="3291840" y="288036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25" name="Image 4" descr="FaMicrochi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threads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Real locks deadlock; a monitor aborts a victim</a:t>
            </a:r>
            <a:endParaRPr lang="en-US" sz="1400" dirty="0"/>
          </a:p>
        </p:txBody>
      </p:sp>
      <p:sp>
        <p:nvSpPr>
          <p:cNvPr id="28" name="Feature Graphviz export"/>
          <p:cNvSpPr/>
          <p:nvPr/>
        </p:nvSpPr>
        <p:spPr>
          <a:xfrm>
            <a:off x="6035040" y="288036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6217920" y="306324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pic>
        <p:nvPicPr>
          <p:cNvPr id="30" name="Image 5" descr="FaFileExpor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Graphviz export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Draw the resource allocation graph as PNG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and 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07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550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every deadlocked process in O(m·n²)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6609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by reclaiming resources one victim at a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19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667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safe sequences before and after recovery</a:t>
            </a:r>
            <a:endParaRPr lang="en-US" sz="1400" dirty="0"/>
          </a:p>
        </p:txBody>
      </p:sp>
      <p:sp>
        <p:nvSpPr>
          <p:cNvPr id="12" name="Future scope"/>
          <p:cNvSpPr/>
          <p:nvPr/>
        </p:nvSpPr>
        <p:spPr>
          <a:xfrm>
            <a:off x="4937760" y="1280160"/>
            <a:ext cx="365760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1208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9659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Automatic victim choice by cost and priority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Deadlock avoidance with Banker's algorithm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Resource preemption with checkpoint rollback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GUI to animate the resource graph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adlock">
  <a:themeElements>
    <a:clrScheme name="Deadlock">
      <a:dk1>
        <a:srgbClr val="14161F"/>
      </a:dk1>
      <a:lt1>
        <a:srgbClr val="FFFFFF"/>
      </a:lt1>
      <a:dk2>
        <a:srgbClr val="2B2F3E"/>
      </a:dk2>
      <a:lt2>
        <a:srgbClr val="F1F2F6"/>
      </a:lt2>
      <a:accent1>
        <a:srgbClr val="E4572E"/>
      </a:accent1>
      <a:accent2>
        <a:srgbClr val="F2A541"/>
      </a:accent2>
      <a:accent3>
        <a:srgbClr val="1FA89A"/>
      </a:accent3>
      <a:accent4>
        <a:srgbClr val="5B6475"/>
      </a:accent4>
      <a:accent5>
        <a:srgbClr val="B23A48"/>
      </a:accent5>
      <a:accent6>
        <a:srgbClr val="3D5A80"/>
      </a:accent6>
      <a:hlink>
        <a:srgbClr val="3D5A80"/>
      </a:hlink>
      <a:folHlink>
        <a:srgbClr val="5B6475"/>
      </a:folHlink>
    </a:clrScheme>
    <a:fontScheme name="Deadlo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 Detection and Recovery Simulator</dc:title>
  <dc:subject>PptxGenJS Presentation</dc:subject>
  <dc:creator>PptxGenJS</dc:creator>
  <cp:lastModifiedBy>PptxGenJS</cp:lastModifiedBy>
  <cp:revision>1</cp:revision>
  <dcterms:created xsi:type="dcterms:W3CDTF">2026-10-17T05:28:26Z</dcterms:created>
  <dcterms:modified xsi:type="dcterms:W3CDTF">2026-10-17T05:28:26Z</dcterms:modified>
</cp:coreProperties>
</file>